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73" r:id="rId11"/>
    <p:sldId id="264" r:id="rId12"/>
    <p:sldId id="266" r:id="rId13"/>
    <p:sldId id="269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87C3"/>
    <a:srgbClr val="30A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A44E8-9BD6-47ED-8DFB-873C72BA4D2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6A2B4-5E7B-4B67-9758-AF6EC2B59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10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4_LuNdipDZ0Tp4-8RhJwv7ftdNXKwZ4v/view?usp=sharing" TargetMode="External"/><Relationship Id="rId5" Type="http://schemas.openxmlformats.org/officeDocument/2006/relationships/hyperlink" Target="https://docs.google.com/spreadsheets/d/1pm0rS4rbwfwZM-Y4kY1QxItmNgO5Q-gpoysgiWbAYAs/edit?gid=923942029#gid=923942029" TargetMode="External"/><Relationship Id="rId4" Type="http://schemas.openxmlformats.org/officeDocument/2006/relationships/hyperlink" Target="https://docs.google.com/forms/d/e/1FAIpQLSfUvDqTc2Vb6q9qPQFZ3fS6XbzqO8xMr_1qhI4u_xTCM33VDA/viewform?usp=header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E74F-F523-F2BF-CD48-C3EE2F75A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7716" y="419266"/>
            <a:ext cx="9710317" cy="500201"/>
          </a:xfrm>
        </p:spPr>
        <p:txBody>
          <a:bodyPr>
            <a:noAutofit/>
          </a:bodyPr>
          <a:lstStyle/>
          <a:p>
            <a:r>
              <a:rPr lang="en-US" sz="2800" dirty="0">
                <a:ln w="0"/>
                <a:solidFill>
                  <a:srgbClr val="1287C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AMERICAN INTERNATIONAL UNIVERSIY BANGLADESH (AIUB</a:t>
            </a:r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438BC-FF0D-7724-286E-87FB99CB7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4326" y="1186002"/>
            <a:ext cx="10132254" cy="393810"/>
          </a:xfrm>
          <a:solidFill>
            <a:srgbClr val="30ACEC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 fontScale="92500"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Code: EEE 4103       Course Name: Microprocessor and Embedded System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669E7-1FBE-D42A-0DDA-F15AF9ACC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8940" t="17901" r="53426" b="19090"/>
          <a:stretch>
            <a:fillRect/>
          </a:stretch>
        </p:blipFill>
        <p:spPr>
          <a:xfrm>
            <a:off x="723711" y="152732"/>
            <a:ext cx="1454005" cy="1427079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1794D3-06B1-590F-4A0F-A99988FD9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385254"/>
              </p:ext>
            </p:extLst>
          </p:nvPr>
        </p:nvGraphicFramePr>
        <p:xfrm>
          <a:off x="1755780" y="3019478"/>
          <a:ext cx="10132252" cy="3419256"/>
        </p:xfrm>
        <a:graphic>
          <a:graphicData uri="http://schemas.openxmlformats.org/drawingml/2006/table">
            <a:tbl>
              <a:tblPr firstRow="1" bandRow="1"/>
              <a:tblGrid>
                <a:gridCol w="863580">
                  <a:extLst>
                    <a:ext uri="{9D8B030D-6E8A-4147-A177-3AD203B41FA5}">
                      <a16:colId xmlns:a16="http://schemas.microsoft.com/office/drawing/2014/main" val="1908684076"/>
                    </a:ext>
                  </a:extLst>
                </a:gridCol>
                <a:gridCol w="1568950">
                  <a:extLst>
                    <a:ext uri="{9D8B030D-6E8A-4147-A177-3AD203B41FA5}">
                      <a16:colId xmlns:a16="http://schemas.microsoft.com/office/drawing/2014/main" val="2316667445"/>
                    </a:ext>
                  </a:extLst>
                </a:gridCol>
                <a:gridCol w="4640928">
                  <a:extLst>
                    <a:ext uri="{9D8B030D-6E8A-4147-A177-3AD203B41FA5}">
                      <a16:colId xmlns:a16="http://schemas.microsoft.com/office/drawing/2014/main" val="3053591741"/>
                    </a:ext>
                  </a:extLst>
                </a:gridCol>
                <a:gridCol w="1529397">
                  <a:extLst>
                    <a:ext uri="{9D8B030D-6E8A-4147-A177-3AD203B41FA5}">
                      <a16:colId xmlns:a16="http://schemas.microsoft.com/office/drawing/2014/main" val="2638514361"/>
                    </a:ext>
                  </a:extLst>
                </a:gridCol>
                <a:gridCol w="1529397">
                  <a:extLst>
                    <a:ext uri="{9D8B030D-6E8A-4147-A177-3AD203B41FA5}">
                      <a16:colId xmlns:a16="http://schemas.microsoft.com/office/drawing/2014/main" val="1612169842"/>
                    </a:ext>
                  </a:extLst>
                </a:gridCol>
              </a:tblGrid>
              <a:tr h="496053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600" b="1" i="1" dirty="0">
                          <a:solidFill>
                            <a:schemeClr val="bg1"/>
                          </a:solidFill>
                        </a:rPr>
                        <a:t>SL #</a:t>
                      </a:r>
                      <a:endParaRPr lang="en-GB" altLang="en-US" sz="1600" b="1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600" b="1" i="1" dirty="0">
                          <a:solidFill>
                            <a:schemeClr val="bg1"/>
                          </a:solidFill>
                        </a:rPr>
                        <a:t>Students ID</a:t>
                      </a:r>
                      <a:endParaRPr lang="en-GB" altLang="en-US" sz="1600" b="1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600" b="1" i="1" dirty="0">
                          <a:solidFill>
                            <a:schemeClr val="bg1"/>
                          </a:solidFill>
                        </a:rPr>
                        <a:t>Students Name</a:t>
                      </a:r>
                      <a:endParaRPr lang="en-GB" altLang="en-US" sz="1600" b="1" i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i="1" dirty="0">
                          <a:solidFill>
                            <a:schemeClr val="bg1"/>
                          </a:solidFill>
                        </a:rPr>
                        <a:t>Program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i="1" dirty="0">
                          <a:solidFill>
                            <a:schemeClr val="bg1"/>
                          </a:solidFill>
                        </a:rPr>
                        <a:t>Section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456765"/>
                  </a:ext>
                </a:extLst>
              </a:tr>
              <a:tr h="496053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23-51412-1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SULTANA BOBI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236163"/>
                  </a:ext>
                </a:extLst>
              </a:tr>
              <a:tr h="496053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23-50146-1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SIFAT </a:t>
                      </a:r>
                      <a:r>
                        <a:rPr lang="en-US" sz="1800" i="1">
                          <a:solidFill>
                            <a:schemeClr val="tx1"/>
                          </a:solidFill>
                        </a:rPr>
                        <a:t>AL MUQTADIR</a:t>
                      </a:r>
                      <a:endParaRPr lang="en-US" sz="18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859697"/>
                  </a:ext>
                </a:extLst>
              </a:tr>
              <a:tr h="64369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23-54466-3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NAHIAN ISLAM RISHAD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574882"/>
                  </a:ext>
                </a:extLst>
              </a:tr>
              <a:tr h="64369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23-50143-1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TANIM MAHBUB ALAM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BSc in CSE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503185"/>
                  </a:ext>
                </a:extLst>
              </a:tr>
              <a:tr h="643699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23-50003-1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SYED ABDULLAH-AL NOMAN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BSc in CSE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293729"/>
                  </a:ext>
                </a:extLst>
              </a:tr>
            </a:tbl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50C8A3D5-6204-567A-12BD-E838BE8DA4A4}"/>
              </a:ext>
            </a:extLst>
          </p:cNvPr>
          <p:cNvSpPr txBox="1">
            <a:spLocks/>
          </p:cNvSpPr>
          <p:nvPr/>
        </p:nvSpPr>
        <p:spPr>
          <a:xfrm>
            <a:off x="9613232" y="866271"/>
            <a:ext cx="2370221" cy="3104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leaders are created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339E428-A020-3D48-18E9-3D3D8C9A8203}"/>
              </a:ext>
            </a:extLst>
          </p:cNvPr>
          <p:cNvSpPr txBox="1">
            <a:spLocks/>
          </p:cNvSpPr>
          <p:nvPr/>
        </p:nvSpPr>
        <p:spPr>
          <a:xfrm>
            <a:off x="1755779" y="1846345"/>
            <a:ext cx="10132254" cy="5002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PIKO: Smart Multifunctional Robot Using Arduino With Obstacle Avoidance, Voice Control &amp; Bluetooth Navigation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48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FB397-2BFF-DB1E-AC59-518035B2D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0" y="332874"/>
            <a:ext cx="9408414" cy="733926"/>
          </a:xfrm>
        </p:spPr>
        <p:txBody>
          <a:bodyPr/>
          <a:lstStyle/>
          <a:p>
            <a:r>
              <a:rPr lang="en-US" dirty="0">
                <a:ln w="3175" cmpd="sng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Outline of the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9F635-C751-2870-22AF-826327224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0" y="1066800"/>
            <a:ext cx="10572750" cy="545832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Aims and Objectives </a:t>
            </a: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 </a:t>
            </a: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Research/Working Method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of the Work </a:t>
            </a: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Report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Gantt Chart </a:t>
            </a: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Discussions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 </a:t>
            </a: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F2ADE73-B24A-AFB2-2073-7C194D102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BE392CE1-477C-9D53-2756-028FBB156502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1000570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D66982C-E35D-A204-8751-F752380DD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6D73BCE-821A-08B4-3E6E-8C66C6904AD1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689658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Aims and Objectives of the Work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BF5A0DF-F4AE-AEFC-2EC8-2295A64E2ACA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10707690" cy="5137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design a complete embedded hardware architecture for PIKO using Arduino Uno, HC-SR04, HC-05, SG90 servo, and L298N motor driver.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implement dual-mode wireless control: voice commands and manual Bluetooth control via Android application.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implement autonomous obstacle avoidance using ultrasonic sensing and servo-assisted lateral scanning.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simulate ARMO navigation logic and circuits using </a:t>
            </a:r>
            <a:r>
              <a:rPr lang="en-US" sz="23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Tinkercad</a:t>
            </a: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23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Wokwi</a:t>
            </a: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before hardware deployment.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analyze system performance: detection range, command latency, motor accuracy, and navigation reliability.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evaluate social, safety, and ethical acceptance of ARMO based on 45 respondent survey findings.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B319804-6FC9-2E55-B08A-31D420B56531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156252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993238-12ED-9083-31CE-5CD9B99298C9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61642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Introduction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C76638-FFC5-5249-D0BF-7184F4937035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10707690" cy="5137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Autonomous robots are reshaping everyday life  from factories to homes  or building them has required expensive proprietary platforms.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PIKO challenges that limitation: built on the Arduino Uno (ATmega328P) one of the most accessible and widely taught embedded platforms.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PIKO combines three complementary modes in one system: autonomous obstacle avoidance, voice control, and manual Bluetooth control.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three modes share a single Arduino Uno, common power supply, L298N motor driver, and unified firmware architecture.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use cases: home assistance, educational demonstration, and research exploration in embedded robotics.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conducted with 45 respondent’s data directly guided design priorities for safety, interactivity, and control preferences.</a:t>
            </a:r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7F872136-5FC8-61F8-B299-FC15E664F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CC696D0-49EA-C35C-ECB6-541BD0C9C0AA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569376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798135-CB41-288A-5834-4A7DEBBA61A7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96775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Literature Review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0776040-3FCA-6FE2-B59E-81CD81EF5B49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0E53F7B1-AEF8-D7AF-F03A-22D986913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4BAFDC-F90B-E518-FD44-2E547BED62E9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10707690" cy="5137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 Jang &amp; Lee (Sustainability, 2020) — Safety and perceived usefulness are key drivers of robot acceptance in service settings.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Gaikwad et al. (IJRASET, 2023) — HC-05 + HC-SR04 on Arduino Uno reliably handles simultaneous sensing and serial communication.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Priyadarshini Team (2024) — Multifunctional BT + voice + avoidance robot; demonstrates Arduino expandability toward AI integration.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 Pavitha et al. (ICTCS Springer, 2023) — Optimal ultrasonic detection ranges and servo turn angles identified for Arduino navigation.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[5] Gupta et al. (IEEE, 2023) — MIT App Inventor + HC-05 UART pipeline validated as effective voice robot control interface…</a:t>
            </a:r>
          </a:p>
        </p:txBody>
      </p:sp>
    </p:spTree>
    <p:extLst>
      <p:ext uri="{BB962C8B-B14F-4D97-AF65-F5344CB8AC3E}">
        <p14:creationId xmlns:p14="http://schemas.microsoft.com/office/powerpoint/2010/main" val="176448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5F2AE8-48C3-2B35-17D0-E356A0C7D0F5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96775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Literature Review (Continued)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D144D67-0B98-4FD9-E61B-3BD06F05DDC8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B455C975-72C2-63FE-FFBC-098D3EA56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F2E20F-D699-87F6-3D94-517B8C794051}"/>
              </a:ext>
            </a:extLst>
          </p:cNvPr>
          <p:cNvSpPr txBox="1">
            <a:spLocks/>
          </p:cNvSpPr>
          <p:nvPr/>
        </p:nvSpPr>
        <p:spPr>
          <a:xfrm>
            <a:off x="1484310" y="1275348"/>
            <a:ext cx="10479090" cy="4531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[6] Al-Tarawneh et al. (IEEE, 2023) — L298N + Arduino Uno provides precise PWM motor control; HC-05 covers ~100m indoor range.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[7] Waqas et al. (ICOSST, 2022) — Ultrasonic avoidance offers best cost-reliability balance for low-power mobile robots.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[8] Das et al. (IJSCI, 2025) — Bluetooth voice command latency of 0.5-1s validated as acceptable for real-time robotic control.</a:t>
            </a:r>
          </a:p>
        </p:txBody>
      </p:sp>
    </p:spTree>
    <p:extLst>
      <p:ext uri="{BB962C8B-B14F-4D97-AF65-F5344CB8AC3E}">
        <p14:creationId xmlns:p14="http://schemas.microsoft.com/office/powerpoint/2010/main" val="55990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2E7A5A3-D326-98AE-C530-872FAE9F30FC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04C96347-EE35-819D-FE1C-305CA4CA3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EF7455-2E1A-C101-9BBC-275B2F107322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96775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Working Method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260D9F-615F-A086-23F5-478C285FD6B1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6148390" cy="4531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PIKO uses Arduino Uno (ATmega328P) as the central brain, controlling all sensors, modules, and actuators through unified firmware.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1: HC-SR04 ultrasonic sensor (Trig/Echo) continuously detects obstacles within 20 cm threshold.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2: HC-05 Bluetooth module receives voice commands and manual directional inputs via UART serial from Android app…</a:t>
            </a:r>
          </a:p>
        </p:txBody>
      </p:sp>
      <p:sp>
        <p:nvSpPr>
          <p:cNvPr id="11" name="Text Box 29">
            <a:extLst>
              <a:ext uri="{FF2B5EF4-FFF2-40B4-BE49-F238E27FC236}">
                <a16:creationId xmlns:a16="http://schemas.microsoft.com/office/drawing/2014/main" id="{9754DD06-E5F3-FF0D-A8F6-A5881230D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600" y="5182543"/>
            <a:ext cx="36682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Block diagram of the system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9F1E0-58A6-AAF2-89A5-7C07D830F5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3" t="2310"/>
          <a:stretch>
            <a:fillRect/>
          </a:stretch>
        </p:blipFill>
        <p:spPr>
          <a:xfrm>
            <a:off x="7632700" y="1275347"/>
            <a:ext cx="4415387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5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997FEE-7772-0F17-817E-EC43D600E9A7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6148390" cy="4833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Processing: Arduino reads sensor distance, interprets command strings, and executes motor/servo actions in real time.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L298N motor driver actuates DC Motors A &amp; B; SG90 servo scans left/right during obstacle avoidance; Buzzer alerts on detection.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Power: 9V Li-Ion battery pack → 5V regulated to Arduino &amp; sensors; 12V direct to L298N for sufficient motor torque.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7BEDA41-F57B-84E1-7AF9-088F0C960DA1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96775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Working Method (Continued)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3C338BA-7595-8998-1755-6DA1C9A4B713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531AC9D1-2ADE-C41B-D6C9-8BFDF7A7A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CB927-063D-94CF-8C46-CA9D0CF7AA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3" t="2310"/>
          <a:stretch>
            <a:fillRect/>
          </a:stretch>
        </p:blipFill>
        <p:spPr>
          <a:xfrm>
            <a:off x="7632700" y="1275347"/>
            <a:ext cx="4415387" cy="3759200"/>
          </a:xfrm>
          <a:prstGeom prst="rect">
            <a:avLst/>
          </a:prstGeom>
        </p:spPr>
      </p:pic>
      <p:sp>
        <p:nvSpPr>
          <p:cNvPr id="7" name="Text Box 29">
            <a:extLst>
              <a:ext uri="{FF2B5EF4-FFF2-40B4-BE49-F238E27FC236}">
                <a16:creationId xmlns:a16="http://schemas.microsoft.com/office/drawing/2014/main" id="{CC5E3A84-FC48-A8B1-A5CD-FFB00C075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600" y="5182543"/>
            <a:ext cx="36682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Block diagram of the system</a:t>
            </a:r>
          </a:p>
        </p:txBody>
      </p:sp>
    </p:spTree>
    <p:extLst>
      <p:ext uri="{BB962C8B-B14F-4D97-AF65-F5344CB8AC3E}">
        <p14:creationId xmlns:p14="http://schemas.microsoft.com/office/powerpoint/2010/main" val="832081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6510FD1-C01F-27D4-D9A8-5239F697DEEF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27A37057-CB3B-C4C5-5AC9-6AD1C46F2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DD2F32A-4748-5DAE-060D-93482B001EAF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96775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Methodology of the Work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39A0B9-5FA1-5FB0-D3CE-E504B4D792BB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10707690" cy="5137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1: Autonomous Obstacle Avoidance: HC-SR04 pings continuously; obstacle &lt;20 </a:t>
            </a:r>
            <a:r>
              <a:rPr lang="en-U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cm→motors</a:t>
            </a: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halt→servo</a:t>
            </a: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scans L/</a:t>
            </a:r>
            <a:r>
              <a:rPr lang="en-U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R→robot</a:t>
            </a: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steers to path.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2: Voice Control: User speaks into paired Android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app→speech-to-text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conversion→HC-05 sends command via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UART→Arduino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actuates motors.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3: Bluetooth Control: User taps directional buttons in app → real-time PWM commands sent to </a:t>
            </a:r>
            <a:r>
              <a:rPr lang="en-U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Arduino→precise</a:t>
            </a: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manual navigation.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Switching: A software flag in Arduino firmware determines active mode — switches seamlessly without hardware reset.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components: Arduino Uno, HC-SR04, HC-05, SG90 servo, L298N motor driver, 2x N20 DC motors, buzzer, 9V battery.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Simulation: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Tinkercad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Circuits used to validate code and circuit connections prior to physical hardware assembly.</a:t>
            </a:r>
          </a:p>
        </p:txBody>
      </p:sp>
    </p:spTree>
    <p:extLst>
      <p:ext uri="{BB962C8B-B14F-4D97-AF65-F5344CB8AC3E}">
        <p14:creationId xmlns:p14="http://schemas.microsoft.com/office/powerpoint/2010/main" val="2129789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1525-8AA7-0745-4AE3-B60079B17388}"/>
              </a:ext>
            </a:extLst>
          </p:cNvPr>
          <p:cNvSpPr txBox="1">
            <a:spLocks/>
          </p:cNvSpPr>
          <p:nvPr/>
        </p:nvSpPr>
        <p:spPr>
          <a:xfrm>
            <a:off x="1517904" y="332874"/>
            <a:ext cx="9563181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Mathematical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44D5B-99EB-206D-95E1-7503082B07DC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23069199-1982-253E-E7DC-DDCCEDFE5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180307-C9A4-0D60-5531-2F0EFEF6D14D}"/>
                  </a:ext>
                </a:extLst>
              </p:cNvPr>
              <p:cNvSpPr/>
              <p:nvPr/>
            </p:nvSpPr>
            <p:spPr>
              <a:xfrm>
                <a:off x="1795422" y="1399674"/>
                <a:ext cx="7310478" cy="1054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PWM frequency for the </a:t>
                </a:r>
                <a:r>
                  <a:rPr lang="en-CA" sz="24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Fast PWM Mode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b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𝑶𝑪𝒏𝒙</m:t>
                        </m:r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𝑷𝑾𝑴</m:t>
                        </m:r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𝒄𝒍𝒌</m:t>
                            </m:r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2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𝑰𝑶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𝑻𝑶𝑷</m:t>
                        </m:r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𝟏𝟔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𝟏𝟎𝟔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𝟔𝟒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𝟐𝟓𝟔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𝟗𝟕𝟔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𝟓𝟔</m:t>
                    </m:r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kHz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180307-C9A4-0D60-5531-2F0EFEF6D1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22" y="1399674"/>
                <a:ext cx="7310478" cy="1054199"/>
              </a:xfrm>
              <a:prstGeom prst="rect">
                <a:avLst/>
              </a:prstGeom>
              <a:blipFill>
                <a:blip r:embed="rId4"/>
                <a:stretch>
                  <a:fillRect l="-1168" t="-4046" r="-1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2532F4-5940-E3AC-62E2-A19AD730898C}"/>
                  </a:ext>
                </a:extLst>
              </p:cNvPr>
              <p:cNvSpPr/>
              <p:nvPr/>
            </p:nvSpPr>
            <p:spPr>
              <a:xfrm>
                <a:off x="1795422" y="2608652"/>
                <a:ext cx="7310478" cy="1050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 </a:t>
                </a:r>
                <a:r>
                  <a:rPr lang="en-CA" sz="240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Servo Angle vs. PWM Pulse Width (SG90):</a:t>
                </a:r>
                <a:b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l-GR" sz="240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θ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𝑷𝑾</m:t>
                        </m:r>
                        <m: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𝑷𝑾𝒎𝒊𝒏</m:t>
                        </m:r>
                        <m: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𝑷𝑾</m:t>
                        </m:r>
                        <m:r>
                          <a:rPr lang="en-US" sz="2400" b="1" i="1" baseline="-2500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  <m: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4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𝑷𝑾𝒎𝒊</m:t>
                        </m:r>
                        <m:r>
                          <a:rPr lang="en-US" sz="2400" b="1" i="1" baseline="-2500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sz="24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sz="240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θ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max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𝟗𝟎</m:t>
                    </m:r>
                    <m:r>
                      <a:rPr lang="en-US" sz="2400" b="1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𝒐</m:t>
                    </m:r>
                  </m:oMath>
                </a14:m>
                <a:endParaRPr lang="en-CA" sz="2400" baseline="30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2532F4-5940-E3AC-62E2-A19AD73089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22" y="2608652"/>
                <a:ext cx="7310478" cy="1050031"/>
              </a:xfrm>
              <a:prstGeom prst="rect">
                <a:avLst/>
              </a:prstGeom>
              <a:blipFill>
                <a:blip r:embed="rId5"/>
                <a:stretch>
                  <a:fillRect l="-1168" t="-4070" r="-1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94FCC5F-602D-21D0-98E3-19518ECD8EE4}"/>
                  </a:ext>
                </a:extLst>
              </p:cNvPr>
              <p:cNvSpPr/>
              <p:nvPr/>
            </p:nvSpPr>
            <p:spPr>
              <a:xfrm>
                <a:off x="1728747" y="3757297"/>
                <a:ext cx="7443828" cy="1155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CA" sz="24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Motor Speed via PWM Duty Cycle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b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Duty</m:t>
                    </m:r>
                    <m:r>
                      <a:rPr lang="en-US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Cycle</m:t>
                    </m:r>
                    <m:d>
                      <m:dPr>
                        <m:ctrlPr>
                          <a:rPr lang="en-US" sz="24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  <m:r>
                      <a:rPr lang="en-US" sz="24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𝑶𝑪𝑹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𝑻𝑶𝑷</m:t>
                        </m:r>
                      </m:den>
                    </m:f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𝟏𝟕𝟖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𝟐𝟓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𝟔𝟗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endParaRPr lang="en-CA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94FCC5F-602D-21D0-98E3-19518ECD8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747" y="3757297"/>
                <a:ext cx="7443828" cy="1155509"/>
              </a:xfrm>
              <a:prstGeom prst="rect">
                <a:avLst/>
              </a:prstGeom>
              <a:blipFill>
                <a:blip r:embed="rId6"/>
                <a:stretch>
                  <a:fillRect l="-1147" t="-3684" r="-1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D177AA0-0270-3442-789F-10DCD7BB7C6E}"/>
                  </a:ext>
                </a:extLst>
              </p:cNvPr>
              <p:cNvSpPr/>
              <p:nvPr/>
            </p:nvSpPr>
            <p:spPr>
              <a:xfrm>
                <a:off x="1795422" y="5011420"/>
                <a:ext cx="7862928" cy="10184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CA" sz="2400" dirty="0">
                    <a:solidFill>
                      <a:srgbClr val="1287C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Bluetooth Communication Baud Rate &amp; Bit Time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b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CA" sz="2400" dirty="0">
                    <a:solidFill>
                      <a:srgbClr val="1287C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CA" sz="2400" baseline="-25000" dirty="0">
                    <a:solidFill>
                      <a:srgbClr val="1287C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bit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1287C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1287C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1287C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1287C3"/>
                            </a:solidFill>
                            <a:latin typeface="Cambria Math" panose="02040503050406030204" pitchFamily="18" charset="0"/>
                          </a:rPr>
                          <m:t>𝑩𝒂𝒖𝒅𝑹𝒂𝒕𝒆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𝟗𝟔𝟎𝟎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𝟏𝟕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mus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D177AA0-0270-3442-789F-10DCD7BB7C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22" y="5011420"/>
                <a:ext cx="7862928" cy="1018484"/>
              </a:xfrm>
              <a:prstGeom prst="rect">
                <a:avLst/>
              </a:prstGeom>
              <a:blipFill>
                <a:blip r:embed="rId7"/>
                <a:stretch>
                  <a:fillRect l="-1086" t="-4192" r="-1241" b="-2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484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BF0D458C-9583-5A35-7DEC-6DE72E229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28D64BC-D4D2-EB3D-41C4-AF98D6322E16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FC1B6FD-A8E1-44C3-7C76-A983EBE391A8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96775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Survey Report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DE97DD-7B8A-40AF-8948-2DAC6879E706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9043990" cy="4833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Link: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User Perception on Multifunctional Robot – Form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Responses: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Responses.xlsx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Detailed Summary: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Summary.pdf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497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61698FD-0943-5704-CDE4-F6F81D43769A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5C2375C1-4EA9-71D4-FC0E-09353A03D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EA4C212-0C74-18BA-191D-AD447A37CCD2}"/>
              </a:ext>
            </a:extLst>
          </p:cNvPr>
          <p:cNvSpPr txBox="1">
            <a:spLocks/>
          </p:cNvSpPr>
          <p:nvPr/>
        </p:nvSpPr>
        <p:spPr>
          <a:xfrm>
            <a:off x="1536192" y="332874"/>
            <a:ext cx="9544893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Gantt 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92A8E0-0F87-7DB3-F8F3-5C96245CB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192" y="1179763"/>
            <a:ext cx="9948672" cy="451451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87924F-EDB5-8FA5-07DE-03F4AFAA5683}"/>
              </a:ext>
            </a:extLst>
          </p:cNvPr>
          <p:cNvSpPr txBox="1">
            <a:spLocks/>
          </p:cNvSpPr>
          <p:nvPr/>
        </p:nvSpPr>
        <p:spPr>
          <a:xfrm>
            <a:off x="2892006" y="5807242"/>
            <a:ext cx="6544093" cy="1050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Start: 20 March 2026  |  Deadline: 7 May 2026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Duration: 7 Weeks</a:t>
            </a:r>
          </a:p>
        </p:txBody>
      </p:sp>
    </p:spTree>
    <p:extLst>
      <p:ext uri="{BB962C8B-B14F-4D97-AF65-F5344CB8AC3E}">
        <p14:creationId xmlns:p14="http://schemas.microsoft.com/office/powerpoint/2010/main" val="3907752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EA03-51E6-1AAA-5846-00D5155B23FB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96775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Results and Discussions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B9D39-CC80-4174-28B2-7A2B244D7E99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55F396C5-BDF8-3F3C-3AD2-0019EE370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0A8298-070B-9773-194B-ACA7A7EBF938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10707690" cy="5137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Enhanced safety: Multi-sensor obstacle avoidance allows PIKO to navigate without collision addressing concern of 44.4% of survey respondents.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Hands-free accessibility: Voice control enables users with physical limitations to operate PIKO without touching any device.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Educational platform: PIKO demonstrates multi-sensor integration, PWM motor control, and wireless communication for embedded systems courses.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Low-cost innovation: Full BOM under 4000 TAKA proves capable robotics is achievable with affordable components in Bangladesh.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 advancement: 75.6% of respondents believe autonomous robots will be accepted in Bangladeshi homes and institutions.</a:t>
            </a:r>
          </a:p>
        </p:txBody>
      </p:sp>
    </p:spTree>
    <p:extLst>
      <p:ext uri="{BB962C8B-B14F-4D97-AF65-F5344CB8AC3E}">
        <p14:creationId xmlns:p14="http://schemas.microsoft.com/office/powerpoint/2010/main" val="412306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AC2CAE0-54A4-E04E-7CCC-7459760B2D28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96775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Conclusions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C9D1F16-2389-0F8F-5AD2-017ACCFFAB42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AB2597B7-6217-AC4A-0665-8CC7562C2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567D3E-E085-7C17-E8A5-6A1E6AEEB0A8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10707690" cy="5137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1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PIKO successfully demonstrates that a single Arduino Uno can support three simultaneous operational modes: autonomous obstacle avoidance, voice control, and Bluetooth control.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data from 45 respondents directly shaped the design safety, voice interaction, and seamless mode-switching emerged as the highest-priority features.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1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system is affordable (&lt;4000 TAKA BOM), </a:t>
            </a:r>
            <a:r>
              <a:rPr lang="en-US" sz="21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accessibleand</a:t>
            </a:r>
            <a:r>
              <a:rPr lang="en-US" sz="21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educational making advanced robotics achievable for students in Bangladesh.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 acceptance is trending positively: 75.6% of respondents believe autonomous robots will gain acceptance in Bangladeshi society.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sz="21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PIKO proves that embedded engineering, guided by real user data, can produce a functional, safe, and socially relevant robotic system.</a:t>
            </a:r>
          </a:p>
        </p:txBody>
      </p:sp>
    </p:spTree>
    <p:extLst>
      <p:ext uri="{BB962C8B-B14F-4D97-AF65-F5344CB8AC3E}">
        <p14:creationId xmlns:p14="http://schemas.microsoft.com/office/powerpoint/2010/main" val="22349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495B51E-F820-AC2B-2D39-4F484D236A2A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3" name="Content Placeholder 8">
            <a:extLst>
              <a:ext uri="{FF2B5EF4-FFF2-40B4-BE49-F238E27FC236}">
                <a16:creationId xmlns:a16="http://schemas.microsoft.com/office/drawing/2014/main" id="{B60DAE24-749E-CF94-E504-DB539DB07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288AEC5-63A1-696D-AF81-5158077222AA}"/>
              </a:ext>
            </a:extLst>
          </p:cNvPr>
          <p:cNvSpPr txBox="1">
            <a:spLocks/>
          </p:cNvSpPr>
          <p:nvPr/>
        </p:nvSpPr>
        <p:spPr>
          <a:xfrm>
            <a:off x="1484310" y="332874"/>
            <a:ext cx="9596775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Future Scopes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9001B6-4AD5-1016-A41E-A036C0BEA562}"/>
              </a:ext>
            </a:extLst>
          </p:cNvPr>
          <p:cNvSpPr txBox="1">
            <a:spLocks/>
          </p:cNvSpPr>
          <p:nvPr/>
        </p:nvSpPr>
        <p:spPr>
          <a:xfrm>
            <a:off x="1484310" y="1275347"/>
            <a:ext cx="10707690" cy="51374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Vision-Based Object Detection.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IMU Sensor Fusion for Stable Navigation.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IoT Cloud Connectivity via Wi-Fi Communications.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Transition from SLAM-Based Autonomous Mapping.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 Emergency Stop &amp; Safety Indicator System.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Battery Life with Battery Management System.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1287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Upgrade Natural Language Processing Commands or Voice Commands</a:t>
            </a:r>
          </a:p>
          <a:p>
            <a:pPr>
              <a:lnSpc>
                <a:spcPts val="3000"/>
              </a:lnSpc>
              <a:spcBef>
                <a:spcPts val="12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Multi-Robot Coordination via Bluetooth Mesh or Wi-Fi to Coordinate tasks</a:t>
            </a:r>
          </a:p>
        </p:txBody>
      </p:sp>
    </p:spTree>
    <p:extLst>
      <p:ext uri="{BB962C8B-B14F-4D97-AF65-F5344CB8AC3E}">
        <p14:creationId xmlns:p14="http://schemas.microsoft.com/office/powerpoint/2010/main" val="490138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4173-2041-AF72-77F3-3896624186B9}"/>
              </a:ext>
            </a:extLst>
          </p:cNvPr>
          <p:cNvSpPr txBox="1">
            <a:spLocks/>
          </p:cNvSpPr>
          <p:nvPr/>
        </p:nvSpPr>
        <p:spPr>
          <a:xfrm>
            <a:off x="1499616" y="332874"/>
            <a:ext cx="9802368" cy="7339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1287C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iyam Rupali" panose="02000500000000020004" pitchFamily="2" charset="0"/>
                <a:cs typeface="Siyam Rupali" panose="02000500000000020004" pitchFamily="2" charset="0"/>
              </a:rPr>
              <a:t>Thanks For Listening our Presentation…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E2114-CE0C-86B6-17E4-733F61C177D1}"/>
              </a:ext>
            </a:extLst>
          </p:cNvPr>
          <p:cNvSpPr txBox="1">
            <a:spLocks/>
          </p:cNvSpPr>
          <p:nvPr/>
        </p:nvSpPr>
        <p:spPr>
          <a:xfrm>
            <a:off x="8890000" y="0"/>
            <a:ext cx="3302001" cy="33287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MICROPROCESSOR AND EMBEDDED SYSTEMS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F0323854-520D-F328-F1E9-DFB782A01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83" y1="57882" x2="50483" y2="57882"/>
                        <a14:foregroundMark x1="52138" y1="57647" x2="52138" y2="57647"/>
                        <a14:foregroundMark x1="56000" y1="57412" x2="56000" y2="57412"/>
                        <a14:foregroundMark x1="59448" y1="56471" x2="59448" y2="56471"/>
                        <a14:foregroundMark x1="61655" y1="56235" x2="61655" y2="56235"/>
                        <a14:foregroundMark x1="66345" y1="56471" x2="66345" y2="56471"/>
                        <a14:foregroundMark x1="69655" y1="56706" x2="69655" y2="56706"/>
                        <a14:foregroundMark x1="71172" y1="56706" x2="71172" y2="56706"/>
                        <a14:foregroundMark x1="73931" y1="56706" x2="73931" y2="56706"/>
                        <a14:foregroundMark x1="77241" y1="57647" x2="77241" y2="57647"/>
                        <a14:foregroundMark x1="80138" y1="55529" x2="80138" y2="55529"/>
                        <a14:foregroundMark x1="82621" y1="45176" x2="82621" y2="45176"/>
                        <a14:foregroundMark x1="84552" y1="44941" x2="84552" y2="44941"/>
                        <a14:foregroundMark x1="88276" y1="43765" x2="88276" y2="43765"/>
                        <a14:foregroundMark x1="78759" y1="43765" x2="78759" y2="43765"/>
                        <a14:foregroundMark x1="74483" y1="42588" x2="74483" y2="42588"/>
                        <a14:foregroundMark x1="72138" y1="42588" x2="72138" y2="42588"/>
                        <a14:foregroundMark x1="69517" y1="43765" x2="69517" y2="43765"/>
                        <a14:foregroundMark x1="66069" y1="43765" x2="66069" y2="43765"/>
                        <a14:foregroundMark x1="61931" y1="43294" x2="61931" y2="43294"/>
                        <a14:foregroundMark x1="57931" y1="43529" x2="57931" y2="43529"/>
                        <a14:foregroundMark x1="54621" y1="42588" x2="54621" y2="42588"/>
                        <a14:foregroundMark x1="52414" y1="43059" x2="52414" y2="43059"/>
                        <a14:foregroundMark x1="48138" y1="42118" x2="48138" y2="42118"/>
                        <a14:foregroundMark x1="50207" y1="32471" x2="50207" y2="32471"/>
                        <a14:foregroundMark x1="52276" y1="32235" x2="52276" y2="32235"/>
                        <a14:foregroundMark x1="56690" y1="33176" x2="56690" y2="33176"/>
                        <a14:foregroundMark x1="60828" y1="32235" x2="60828" y2="32235"/>
                        <a14:foregroundMark x1="63724" y1="32471" x2="63724" y2="32471"/>
                        <a14:foregroundMark x1="65517" y1="32000" x2="65517" y2="32000"/>
                        <a14:foregroundMark x1="70621" y1="30824" x2="70621" y2="30824"/>
                        <a14:foregroundMark x1="72552" y1="31765" x2="72552" y2="31765"/>
                        <a14:foregroundMark x1="83310" y1="67294" x2="83310" y2="67294"/>
                        <a14:foregroundMark x1="78897" y1="67529" x2="78897" y2="67529"/>
                        <a14:foregroundMark x1="75862" y1="67529" x2="75862" y2="67529"/>
                        <a14:foregroundMark x1="73379" y1="67529" x2="73379" y2="67529"/>
                        <a14:foregroundMark x1="68690" y1="68000" x2="68690" y2="68000"/>
                        <a14:foregroundMark x1="63862" y1="67529" x2="63862" y2="67529"/>
                        <a14:foregroundMark x1="61931" y1="69412" x2="61931" y2="69412"/>
                        <a14:foregroundMark x1="58345" y1="68706" x2="58345" y2="68706"/>
                        <a14:foregroundMark x1="53931" y1="68706" x2="53931" y2="68706"/>
                        <a14:foregroundMark x1="50345" y1="66353" x2="50345" y2="66353"/>
                        <a14:backgroundMark x1="49103" y1="31529" x2="49103" y2="31529"/>
                        <a14:backgroundMark x1="52552" y1="33412" x2="52552" y2="33412"/>
                        <a14:backgroundMark x1="52552" y1="32235" x2="52552" y2="32235"/>
                        <a14:backgroundMark x1="61241" y1="29882" x2="61241" y2="29882"/>
                        <a14:backgroundMark x1="61379" y1="42588" x2="61379" y2="42588"/>
                        <a14:backgroundMark x1="85517" y1="43529" x2="85517" y2="43529"/>
                        <a14:backgroundMark x1="65931" y1="54588" x2="65931" y2="54588"/>
                        <a14:backgroundMark x1="49103" y1="66353" x2="49103" y2="66353"/>
                        <a14:backgroundMark x1="49103" y1="69412" x2="49103" y2="69412"/>
                        <a14:backgroundMark x1="52552" y1="67765" x2="52552" y2="67765"/>
                        <a14:backgroundMark x1="50621" y1="66824" x2="50621" y2="66824"/>
                        <a14:backgroundMark x1="50483" y1="66588" x2="50483" y2="66588"/>
                        <a14:backgroundMark x1="58621" y1="68941" x2="58621" y2="68941"/>
                        <a14:backgroundMark x1="67724" y1="67529" x2="67724" y2="67529"/>
                        <a14:backgroundMark x1="68828" y1="43294" x2="68828" y2="43294"/>
                        <a14:backgroundMark x1="70069" y1="31059" x2="70069" y2="31059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99531" y="5807242"/>
            <a:ext cx="1792469" cy="1050758"/>
          </a:xfrm>
          <a:prstGeom prst="rect">
            <a:avLst/>
          </a:prstGeom>
        </p:spPr>
      </p:pic>
      <p:grpSp>
        <p:nvGrpSpPr>
          <p:cNvPr id="8" name="Group 6">
            <a:extLst>
              <a:ext uri="{FF2B5EF4-FFF2-40B4-BE49-F238E27FC236}">
                <a16:creationId xmlns:a16="http://schemas.microsoft.com/office/drawing/2014/main" id="{7D53857F-B5AF-134F-151A-A0084255A611}"/>
              </a:ext>
            </a:extLst>
          </p:cNvPr>
          <p:cNvGrpSpPr>
            <a:grpSpLocks/>
          </p:cNvGrpSpPr>
          <p:nvPr/>
        </p:nvGrpSpPr>
        <p:grpSpPr bwMode="auto">
          <a:xfrm>
            <a:off x="3581399" y="1399674"/>
            <a:ext cx="6210301" cy="5125452"/>
            <a:chOff x="432" y="1584"/>
            <a:chExt cx="3072" cy="2426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78411FC5-3879-7C95-7FCF-3A5041CCB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584"/>
              <a:ext cx="2208" cy="816"/>
            </a:xfrm>
            <a:prstGeom prst="cloudCallout">
              <a:avLst>
                <a:gd name="adj1" fmla="val -41574"/>
                <a:gd name="adj2" fmla="val 140565"/>
              </a:avLst>
            </a:prstGeom>
            <a:solidFill>
              <a:schemeClr val="accent3"/>
            </a:solidFill>
            <a:ln w="952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altLang="en-US" sz="2800"/>
            </a:p>
          </p:txBody>
        </p:sp>
        <p:pic>
          <p:nvPicPr>
            <p:cNvPr id="10" name="Picture 4" descr="j0301252">
              <a:extLst>
                <a:ext uri="{FF2B5EF4-FFF2-40B4-BE49-F238E27FC236}">
                  <a16:creationId xmlns:a16="http://schemas.microsoft.com/office/drawing/2014/main" id="{1F92B1D3-18D9-34BD-DC43-13AC1AD3F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3024"/>
              <a:ext cx="1153" cy="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WordArt 5">
              <a:extLst>
                <a:ext uri="{FF2B5EF4-FFF2-40B4-BE49-F238E27FC236}">
                  <a16:creationId xmlns:a16="http://schemas.microsoft.com/office/drawing/2014/main" id="{7897F5BC-5838-4C64-0AB0-9C93ADC08E4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2208" y="1728"/>
              <a:ext cx="421" cy="6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5520" kern="10" dirty="0">
                  <a:ln w="9525">
                    <a:solidFill>
                      <a:schemeClr val="accent5">
                        <a:lumMod val="75000"/>
                      </a:schemeClr>
                    </a:solidFill>
                    <a:round/>
                    <a:headEnd/>
                    <a:tailEnd/>
                  </a:ln>
                  <a:solidFill>
                    <a:srgbClr val="00B050"/>
                  </a:solidFill>
                  <a:latin typeface="Arial Black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10752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286</TotalTime>
  <Words>1346</Words>
  <Application>Microsoft Office PowerPoint</Application>
  <PresentationFormat>Widescreen</PresentationFormat>
  <Paragraphs>136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Cambria Math</vt:lpstr>
      <vt:lpstr>Corbel</vt:lpstr>
      <vt:lpstr>Siyam Rupali</vt:lpstr>
      <vt:lpstr>Parallax</vt:lpstr>
      <vt:lpstr>AMERICAN INTERNATIONAL UNIVERSIY BANGLADESH (AIUB)</vt:lpstr>
      <vt:lpstr>Outline of the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 MUQTADIR AHMED SIPAT</dc:creator>
  <cp:lastModifiedBy>AL MUQTADIR AHMED SIPAT</cp:lastModifiedBy>
  <cp:revision>3</cp:revision>
  <dcterms:created xsi:type="dcterms:W3CDTF">2026-05-06T10:59:31Z</dcterms:created>
  <dcterms:modified xsi:type="dcterms:W3CDTF">2026-05-06T15:46:18Z</dcterms:modified>
</cp:coreProperties>
</file>